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9144000" cy="6858000"/>
          </a:xfrm>
          <a:prstGeom prst="rect">
            <a:avLst/>
          </a:prstGeom>
          <a:noFill/>
          <a:ln w="9525">
            <a:noFill/>
          </a:ln>
        </p:spPr>
      </p:pic>
      <p:sp>
        <p:nvSpPr>
          <p:cNvPr id="2051" name="Rectangle 3"/>
          <p:cNvSpPr>
            <a:spLocks noGrp="1" noChangeArrowheads="1"/>
          </p:cNvSpPr>
          <p:nvPr>
            <p:ph type="ctrTitle"/>
          </p:nvPr>
        </p:nvSpPr>
        <p:spPr>
          <a:xfrm>
            <a:off x="468313" y="3717925"/>
            <a:ext cx="8207375"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4940300"/>
            <a:ext cx="8212138" cy="981075"/>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2"/>
          <a:stretch>
            <a:fillRect/>
          </a:stretch>
        </p:blipFill>
        <p:spPr>
          <a:xfrm>
            <a:off x="0" y="0"/>
            <a:ext cx="91440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515620"/>
            <a:ext cx="8229600" cy="582613"/>
          </a:xfrm>
        </p:spPr>
        <p:txBody>
          <a:bodyPr/>
          <a:lstStyle/>
          <a:p>
            <a:pPr algn="ctr"/>
            <a:r>
              <a:t>IRCTC Sentiment Analytics</a:t>
            </a:r>
            <a:r>
              <a:rPr lang="en-US"/>
              <a:t> - Capstone Project</a:t>
            </a:r>
            <a:endParaRPr lang="en-US"/>
          </a:p>
        </p:txBody>
      </p:sp>
      <p:sp>
        <p:nvSpPr>
          <p:cNvPr id="3" name="Content Placeholder 2"/>
          <p:cNvSpPr>
            <a:spLocks noGrp="1"/>
          </p:cNvSpPr>
          <p:nvPr>
            <p:ph idx="1"/>
          </p:nvPr>
        </p:nvSpPr>
        <p:spPr>
          <a:xfrm>
            <a:off x="457200" y="1550670"/>
            <a:ext cx="8229600" cy="4953000"/>
          </a:xfrm>
        </p:spPr>
        <p:txBody>
          <a:bodyPr/>
          <a:lstStyle/>
          <a:p>
            <a:pPr marL="0" indent="0">
              <a:buNone/>
              <a:defRPr sz="1800"/>
            </a:pPr>
            <a:r>
              <a:t>Industry: Travel and Transportation</a:t>
            </a:r>
          </a:p>
          <a:p>
            <a:pPr marL="0" indent="0">
              <a:buNone/>
              <a:defRPr sz="1800"/>
            </a:pPr>
            <a:r>
              <a:t>Name: Teesa Sharma</a:t>
            </a:r>
          </a:p>
          <a:p>
            <a:pPr marL="0" indent="0">
              <a:buNone/>
              <a:defRPr sz="1800"/>
            </a:pPr>
            <a:r>
              <a:t>College: </a:t>
            </a:r>
            <a:r>
              <a:rPr lang="en-US"/>
              <a:t>School of Management</a:t>
            </a:r>
            <a:endParaRPr lang="en-US"/>
          </a:p>
          <a:p>
            <a:pPr marL="0" indent="0">
              <a:buNone/>
              <a:defRPr sz="1800"/>
            </a:pPr>
            <a:r>
              <a:t>Course: Text, Web and Social Media Analytics</a:t>
            </a:r>
          </a:p>
          <a:p>
            <a:pPr marL="0" indent="0">
              <a:buNone/>
              <a:defRPr sz="1800"/>
            </a:pPr>
            <a:r>
              <a:t>Date: November</a:t>
            </a:r>
            <a:r>
              <a:rPr lang="en-US"/>
              <a:t> 14,</a:t>
            </a:r>
            <a:r>
              <a:t> 2025</a:t>
            </a:r>
          </a:p>
          <a:p>
            <a:pPr>
              <a:defRPr sz="1800"/>
            </a:pPr>
          </a:p>
          <a:p>
            <a:pPr marL="0" indent="0">
              <a:buNone/>
              <a:defRPr sz="1800"/>
            </a:pPr>
            <a:r>
              <a:t>Problem Statement:</a:t>
            </a:r>
          </a:p>
          <a:p>
            <a:pPr marL="0" indent="0">
              <a:buNone/>
              <a:defRPr sz="1800"/>
            </a:pPr>
            <a:r>
              <a:t>The Indian Railway Catering and Tourism Corporation (IRCTC) handles millions of passengers daily. With large volumes of online reviews and social media feedback, it becomes difficult to manually analyze sentiments and key service issues. This project applies Natural Language Processing (NLP) and Social Media Analytics to identify customer sentiment, discover key discussion topics, and visualize satisfaction levels for IRCTC services.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Methodology and Data Pipeline</a:t>
            </a:r>
          </a:p>
        </p:txBody>
      </p:sp>
      <p:sp>
        <p:nvSpPr>
          <p:cNvPr id="3" name="Content Placeholder 2"/>
          <p:cNvSpPr>
            <a:spLocks noGrp="1"/>
          </p:cNvSpPr>
          <p:nvPr>
            <p:ph idx="1"/>
          </p:nvPr>
        </p:nvSpPr>
        <p:spPr/>
        <p:txBody>
          <a:bodyPr/>
          <a:lstStyle/>
          <a:p>
            <a:pPr marL="0" indent="0">
              <a:buNone/>
              <a:defRPr sz="1800"/>
            </a:pPr>
            <a:r>
              <a:t>Workflow:</a:t>
            </a:r>
          </a:p>
          <a:p>
            <a:pPr marL="0" indent="0">
              <a:buNone/>
              <a:defRPr sz="1800"/>
            </a:pPr>
            <a:r>
              <a:t>Data Collection → Text Preprocessing → Sentiment Analysis → Topic Modeling → Text Classification → Social Media Analytics → Visualization and Storage</a:t>
            </a:r>
          </a:p>
          <a:p>
            <a:pPr>
              <a:defRPr sz="1800"/>
            </a:pPr>
          </a:p>
          <a:p>
            <a:pPr marL="0" indent="0">
              <a:buNone/>
              <a:defRPr sz="1800"/>
            </a:pPr>
            <a:r>
              <a:t>Key Highlights:</a:t>
            </a:r>
          </a:p>
          <a:p>
            <a:pPr marL="0" indent="0">
              <a:buNone/>
              <a:defRPr sz="1800"/>
            </a:pPr>
            <a:r>
              <a:t>- Data from IRCTC reviews and social media (Twitter)</a:t>
            </a:r>
          </a:p>
          <a:p>
            <a:pPr marL="0" indent="0">
              <a:buNone/>
              <a:defRPr sz="1800"/>
            </a:pPr>
            <a:r>
              <a:t>- Text cleaning, tokenization, lemmatization, stopword removal</a:t>
            </a:r>
          </a:p>
          <a:p>
            <a:pPr marL="0" indent="0">
              <a:buNone/>
              <a:defRPr sz="1800"/>
            </a:pPr>
            <a:r>
              <a:t>- Sentiment analysis using TextBlob and VADER</a:t>
            </a:r>
          </a:p>
          <a:p>
            <a:pPr marL="0" indent="0">
              <a:buNone/>
              <a:defRPr sz="1800"/>
            </a:pPr>
            <a:r>
              <a:t>- Topic modeling using LDA</a:t>
            </a:r>
          </a:p>
          <a:p>
            <a:pPr marL="0" indent="0">
              <a:buNone/>
              <a:defRPr sz="1800"/>
            </a:pPr>
            <a:r>
              <a:t>- Classification using Naive Bayes and Logistic Regression</a:t>
            </a:r>
          </a:p>
          <a:p>
            <a:pPr marL="0" indent="0">
              <a:buNone/>
              <a:defRPr sz="1800"/>
            </a:pPr>
            <a:r>
              <a:t>- Visualization via Matplotlib, Seaborn, and Plotly</a:t>
            </a:r>
          </a:p>
          <a:p>
            <a:pPr marL="0" indent="0">
              <a:buNone/>
              <a:defRPr sz="1800"/>
            </a:pPr>
            <a:r>
              <a:t>- Results stored in SQLite database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Use Cases and Implementation</a:t>
            </a:r>
          </a:p>
        </p:txBody>
      </p:sp>
      <p:sp>
        <p:nvSpPr>
          <p:cNvPr id="3" name="Content Placeholder 2"/>
          <p:cNvSpPr>
            <a:spLocks noGrp="1"/>
          </p:cNvSpPr>
          <p:nvPr>
            <p:ph idx="1"/>
          </p:nvPr>
        </p:nvSpPr>
        <p:spPr/>
        <p:txBody>
          <a:bodyPr/>
          <a:lstStyle/>
          <a:p>
            <a:pPr marL="0" indent="0">
              <a:buNone/>
              <a:defRPr sz="1800"/>
            </a:pPr>
            <a:r>
              <a:t>Five Key Use Cases:</a:t>
            </a:r>
          </a:p>
          <a:p>
            <a:pPr marL="0" indent="0">
              <a:buNone/>
              <a:defRPr sz="1800"/>
            </a:pPr>
          </a:p>
          <a:p>
            <a:pPr marL="0" indent="0">
              <a:buNone/>
              <a:defRPr sz="1800"/>
            </a:pPr>
            <a:r>
              <a:t>1. Text Preprocessing – Clean and prepare textual data for analysis</a:t>
            </a:r>
          </a:p>
          <a:p>
            <a:pPr marL="0" indent="0">
              <a:buNone/>
              <a:defRPr sz="1800"/>
            </a:pPr>
            <a:r>
              <a:t>2. Sentiment Analysis – Identify positive, negative, and neutral sentiments</a:t>
            </a:r>
          </a:p>
          <a:p>
            <a:pPr marL="0" indent="0">
              <a:buNone/>
              <a:defRPr sz="1800"/>
            </a:pPr>
            <a:r>
              <a:t>3. Topic Modeling – Discover major customer issues</a:t>
            </a:r>
          </a:p>
          <a:p>
            <a:pPr marL="0" indent="0">
              <a:buNone/>
              <a:defRPr sz="1800"/>
            </a:pPr>
            <a:r>
              <a:t>4. Text Classification – Predict sentiment using ML models</a:t>
            </a:r>
          </a:p>
          <a:p>
            <a:pPr marL="0" indent="0">
              <a:buNone/>
              <a:defRPr sz="1800"/>
            </a:pPr>
            <a:r>
              <a:t>5. Social Media Analytics – Analyze Twitter trends</a:t>
            </a:r>
          </a:p>
          <a:p>
            <a:pPr marL="0" indent="0">
              <a:buNone/>
              <a:defRPr sz="1800"/>
            </a:pPr>
          </a:p>
          <a:p>
            <a:pPr marL="0" indent="0">
              <a:buNone/>
              <a:defRPr sz="1800"/>
            </a:pPr>
            <a:r>
              <a:t>Implementation Notes:</a:t>
            </a:r>
          </a:p>
          <a:p>
            <a:pPr marL="0" indent="0">
              <a:buNone/>
              <a:defRPr sz="1800"/>
            </a:pPr>
            <a:r>
              <a:t>- Consistent preprocessing pipeline for all use cases</a:t>
            </a:r>
          </a:p>
          <a:p>
            <a:pPr marL="0" indent="0">
              <a:buNone/>
              <a:defRPr sz="1800"/>
            </a:pPr>
            <a:r>
              <a:t>- Included both 2D and 3D visualizations for clear presentation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Results and Visualizations</a:t>
            </a:r>
          </a:p>
        </p:txBody>
      </p:sp>
      <p:sp>
        <p:nvSpPr>
          <p:cNvPr id="3" name="Content Placeholder 2"/>
          <p:cNvSpPr>
            <a:spLocks noGrp="1"/>
          </p:cNvSpPr>
          <p:nvPr>
            <p:ph idx="1"/>
          </p:nvPr>
        </p:nvSpPr>
        <p:spPr/>
        <p:txBody>
          <a:bodyPr/>
          <a:lstStyle/>
          <a:p>
            <a:pPr marL="0" indent="0">
              <a:buNone/>
              <a:defRPr sz="1800"/>
            </a:pPr>
            <a:r>
              <a:t>Results Summary:</a:t>
            </a:r>
          </a:p>
          <a:p>
            <a:pPr marL="0" indent="0">
              <a:buNone/>
              <a:defRPr sz="1800"/>
            </a:pPr>
            <a:r>
              <a:t>- Logistic Regression accuracy: 91%</a:t>
            </a:r>
          </a:p>
          <a:p>
            <a:pPr marL="0" indent="0">
              <a:buNone/>
              <a:defRPr sz="1800"/>
            </a:pPr>
            <a:r>
              <a:t>- Sentiment distribution: 60% Positive, 25% Negative, 15% Neutral</a:t>
            </a:r>
          </a:p>
          <a:p>
            <a:pPr marL="0" indent="0">
              <a:buNone/>
              <a:defRPr sz="1800"/>
            </a:pPr>
            <a:r>
              <a:t>- Topics: Booking issues, food quality, refund speed, customer support</a:t>
            </a:r>
          </a:p>
          <a:p>
            <a:pPr marL="0" indent="0">
              <a:buNone/>
              <a:defRPr sz="1800"/>
            </a:pPr>
            <a:r>
              <a:t>- Twitter trends confirmed sentiment accuracy</a:t>
            </a:r>
          </a:p>
          <a:p>
            <a:pPr marL="0" indent="0">
              <a:buNone/>
              <a:defRPr sz="1800"/>
            </a:pPr>
          </a:p>
          <a:p>
            <a:pPr marL="0" indent="0">
              <a:buNone/>
              <a:defRPr sz="1800"/>
            </a:pPr>
            <a:r>
              <a:t>Visualizations:</a:t>
            </a:r>
          </a:p>
          <a:p>
            <a:pPr marL="0" indent="0">
              <a:buNone/>
              <a:defRPr sz="1800"/>
            </a:pPr>
            <a:r>
              <a:t>- Word Cloud</a:t>
            </a:r>
          </a:p>
          <a:p>
            <a:pPr marL="0" indent="0">
              <a:buNone/>
              <a:defRPr sz="1800"/>
            </a:pPr>
            <a:r>
              <a:t>- 3D Sentiment Trend Chart</a:t>
            </a:r>
          </a:p>
          <a:p>
            <a:pPr marL="0" indent="0">
              <a:buNone/>
              <a:defRPr sz="1800"/>
            </a:pPr>
            <a:r>
              <a:t>- Confusion Matrix</a:t>
            </a:r>
          </a:p>
          <a:p>
            <a:pPr marL="0" indent="0">
              <a:buNone/>
              <a:defRPr sz="1800"/>
            </a:pPr>
            <a:r>
              <a:t>- Topic Strength Visualization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Insights</a:t>
            </a:r>
            <a:r>
              <a:rPr lang="en-US"/>
              <a:t> and </a:t>
            </a:r>
            <a:r>
              <a:t>Conclusion </a:t>
            </a:r>
          </a:p>
        </p:txBody>
      </p:sp>
      <p:sp>
        <p:nvSpPr>
          <p:cNvPr id="3" name="Content Placeholder 2"/>
          <p:cNvSpPr>
            <a:spLocks noGrp="1"/>
          </p:cNvSpPr>
          <p:nvPr>
            <p:ph idx="1"/>
          </p:nvPr>
        </p:nvSpPr>
        <p:spPr/>
        <p:txBody>
          <a:bodyPr/>
          <a:lstStyle/>
          <a:p>
            <a:pPr marL="0" indent="0">
              <a:buNone/>
              <a:defRPr sz="1800"/>
            </a:pPr>
            <a:r>
              <a:t>Key Insights:</a:t>
            </a:r>
          </a:p>
          <a:p>
            <a:pPr marL="0" indent="0">
              <a:buNone/>
              <a:defRPr sz="1800"/>
            </a:pPr>
            <a:r>
              <a:t>- Most IRCTC users express positive sentiment regarding reliability and refunds</a:t>
            </a:r>
          </a:p>
          <a:p>
            <a:pPr marL="0" indent="0">
              <a:buNone/>
              <a:defRPr sz="1800"/>
            </a:pPr>
            <a:r>
              <a:t>- Negative feedback highlights Tatkal booking and app interface</a:t>
            </a:r>
          </a:p>
          <a:p>
            <a:pPr marL="0" indent="0">
              <a:buNone/>
              <a:defRPr sz="1800"/>
            </a:pPr>
            <a:r>
              <a:t>- Merged analysis of reviews and social media gives holistic understanding</a:t>
            </a:r>
          </a:p>
          <a:p>
            <a:pPr marL="0" indent="0">
              <a:buNone/>
              <a:defRPr sz="1800"/>
            </a:pPr>
          </a:p>
          <a:p>
            <a:pPr marL="0" indent="0">
              <a:buNone/>
              <a:defRPr sz="1800"/>
            </a:pPr>
            <a:r>
              <a:t>Conclusion:</a:t>
            </a:r>
          </a:p>
          <a:p>
            <a:pPr marL="0" indent="0">
              <a:buNone/>
              <a:defRPr sz="1800"/>
            </a:pPr>
            <a:r>
              <a:t>- NLP and analytics provide actionable insights for service improvement</a:t>
            </a:r>
          </a:p>
          <a:p>
            <a:pPr marL="0" indent="0">
              <a:buNone/>
              <a:defRPr sz="1800"/>
            </a:pPr>
            <a:r>
              <a:t>- Framework can scale to other public transport systems</a:t>
            </a:r>
          </a:p>
        </p:txBody>
      </p:sp>
    </p:spTree>
  </p:cSld>
  <p:clrMapOvr>
    <a:masterClrMapping/>
  </p:clrMapOvr>
</p:sld>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2411</Words>
  <Application>WPS Presentation</Application>
  <PresentationFormat>On-screen Show (4:3)</PresentationFormat>
  <Paragraphs>64</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Arial</vt:lpstr>
      <vt:lpstr>SimSun</vt:lpstr>
      <vt:lpstr>Wingdings</vt:lpstr>
      <vt:lpstr>Microsoft YaHei</vt:lpstr>
      <vt:lpstr>Arial Unicode MS</vt:lpstr>
      <vt:lpstr>Calibri</vt:lpstr>
      <vt:lpstr>Green Color</vt:lpstr>
      <vt:lpstr>IRCTC Sentiment Analytics</vt:lpstr>
      <vt:lpstr>Methodology and Data Pipeline</vt:lpstr>
      <vt:lpstr>Use Cases and Implementation</vt:lpstr>
      <vt:lpstr>Results and Visualizations</vt:lpstr>
      <vt:lpstr>Insights and Conclusion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TEESA SHARMA</cp:lastModifiedBy>
  <cp:revision>3</cp:revision>
  <dcterms:created xsi:type="dcterms:W3CDTF">2013-01-27T09:14:00Z</dcterms:created>
  <dcterms:modified xsi:type="dcterms:W3CDTF">2025-11-13T08:20:40Z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EA7BB5F73BEB4C98BF4D4DB7FB90934E_12</vt:lpwstr>
  </property>
  <property fmtid="{D5CDD505-2E9C-101B-9397-08002B2CF9AE}" pid="3" name="KSOProductBuildVer">
    <vt:lpwstr>1033-12.2.0.23155</vt:lpwstr>
  </property>
</Properties>
</file>